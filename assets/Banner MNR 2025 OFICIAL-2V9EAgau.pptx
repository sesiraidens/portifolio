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0439400" cy="15119350"/>
  <p:notesSz cx="6858000" cy="9144000"/>
  <p:embeddedFontLst>
    <p:embeddedFont>
      <p:font typeface="Arial Black" panose="020B0A04020102020204" pitchFamily="34" charset="0"/>
      <p:regular r:id="rId4"/>
      <p:bold r:id="rId5"/>
    </p:embeddedFon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Tahoma" panose="020B0604030504040204" pitchFamily="34" charset="0"/>
      <p:regular r:id="rId10"/>
      <p:bold r:id="rId11"/>
    </p:embeddedFont>
    <p:embeddedFont>
      <p:font typeface="Trebuchet MS" panose="020B0603020202020204" pitchFamily="3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762">
          <p15:clr>
            <a:srgbClr val="747775"/>
          </p15:clr>
        </p15:guide>
        <p15:guide id="2" pos="328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38" y="-3811"/>
      </p:cViewPr>
      <p:guideLst>
        <p:guide orient="horz" pos="4762"/>
        <p:guide pos="3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45502" y="685800"/>
            <a:ext cx="2367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7879f4240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4725" y="685800"/>
            <a:ext cx="23685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7879f4240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55887" y="2188777"/>
            <a:ext cx="9728100" cy="6033900"/>
          </a:xfrm>
          <a:prstGeom prst="rect">
            <a:avLst/>
          </a:prstGeom>
        </p:spPr>
        <p:txBody>
          <a:bodyPr spcFirstLastPara="1" wrap="square" lIns="159175" tIns="159175" rIns="159175" bIns="1591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 algn="ctr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 algn="ctr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 algn="ctr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 algn="ctr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 algn="ctr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 algn="ctr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 algn="ctr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 algn="ctr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55878" y="8331286"/>
            <a:ext cx="9728100" cy="2330100"/>
          </a:xfrm>
          <a:prstGeom prst="rect">
            <a:avLst/>
          </a:prstGeom>
        </p:spPr>
        <p:txBody>
          <a:bodyPr spcFirstLastPara="1" wrap="square" lIns="159175" tIns="159175" rIns="159175" bIns="15917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9673279" y="13708144"/>
            <a:ext cx="626400" cy="1157100"/>
          </a:xfrm>
          <a:prstGeom prst="rect">
            <a:avLst/>
          </a:prstGeom>
        </p:spPr>
        <p:txBody>
          <a:bodyPr spcFirstLastPara="1" wrap="square" lIns="159175" tIns="159175" rIns="159175" bIns="15917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55878" y="6322709"/>
            <a:ext cx="9728100" cy="2474700"/>
          </a:xfrm>
          <a:prstGeom prst="rect">
            <a:avLst/>
          </a:prstGeom>
        </p:spPr>
        <p:txBody>
          <a:bodyPr spcFirstLastPara="1" wrap="square" lIns="159175" tIns="159175" rIns="159175" bIns="1591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2pPr>
            <a:lvl3pPr lvl="2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3pPr>
            <a:lvl4pPr lvl="3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4pPr>
            <a:lvl5pPr lvl="4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5pPr>
            <a:lvl6pPr lvl="5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6pPr>
            <a:lvl7pPr lvl="6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7pPr>
            <a:lvl8pPr lvl="7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8pPr>
            <a:lvl9pPr lvl="8" algn="ctr"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9673279" y="13708144"/>
            <a:ext cx="626400" cy="1157100"/>
          </a:xfrm>
          <a:prstGeom prst="rect">
            <a:avLst/>
          </a:prstGeom>
        </p:spPr>
        <p:txBody>
          <a:bodyPr spcFirstLastPara="1" wrap="square" lIns="159175" tIns="159175" rIns="159175" bIns="15917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55878" y="1308210"/>
            <a:ext cx="9728100" cy="1683600"/>
          </a:xfrm>
          <a:prstGeom prst="rect">
            <a:avLst/>
          </a:prstGeom>
        </p:spPr>
        <p:txBody>
          <a:bodyPr spcFirstLastPara="1" wrap="square" lIns="159175" tIns="159175" rIns="159175" bIns="15917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55878" y="3387853"/>
            <a:ext cx="9728100" cy="10043100"/>
          </a:xfrm>
          <a:prstGeom prst="rect">
            <a:avLst/>
          </a:prstGeom>
        </p:spPr>
        <p:txBody>
          <a:bodyPr spcFirstLastPara="1" wrap="square" lIns="159175" tIns="159175" rIns="159175" bIns="159175" anchor="t" anchorCtr="0">
            <a:normAutofit/>
          </a:bodyPr>
          <a:lstStyle>
            <a:lvl1pPr marL="457200" lvl="0" indent="-425450">
              <a:spcBef>
                <a:spcPts val="0"/>
              </a:spcBef>
              <a:spcAft>
                <a:spcPts val="0"/>
              </a:spcAft>
              <a:buSzPts val="31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673279" y="13708144"/>
            <a:ext cx="626400" cy="1157100"/>
          </a:xfrm>
          <a:prstGeom prst="rect">
            <a:avLst/>
          </a:prstGeom>
        </p:spPr>
        <p:txBody>
          <a:bodyPr spcFirstLastPara="1" wrap="square" lIns="159175" tIns="159175" rIns="159175" bIns="15917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55878" y="1308210"/>
            <a:ext cx="9728100" cy="1683600"/>
          </a:xfrm>
          <a:prstGeom prst="rect">
            <a:avLst/>
          </a:prstGeom>
        </p:spPr>
        <p:txBody>
          <a:bodyPr spcFirstLastPara="1" wrap="square" lIns="159175" tIns="159175" rIns="159175" bIns="15917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55878" y="3387853"/>
            <a:ext cx="4566900" cy="10043100"/>
          </a:xfrm>
          <a:prstGeom prst="rect">
            <a:avLst/>
          </a:prstGeom>
        </p:spPr>
        <p:txBody>
          <a:bodyPr spcFirstLastPara="1" wrap="square" lIns="159175" tIns="159175" rIns="159175" bIns="15917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6195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marL="1371600" lvl="2" indent="-36195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marL="1828800" lvl="3" indent="-36195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marL="2286000" lvl="4" indent="-36195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marL="2743200" lvl="5" indent="-36195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marL="3200400" lvl="6" indent="-36195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marL="3657600" lvl="7" indent="-36195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marL="4114800" lvl="8" indent="-36195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517307" y="3387853"/>
            <a:ext cx="4566900" cy="10043100"/>
          </a:xfrm>
          <a:prstGeom prst="rect">
            <a:avLst/>
          </a:prstGeom>
        </p:spPr>
        <p:txBody>
          <a:bodyPr spcFirstLastPara="1" wrap="square" lIns="159175" tIns="159175" rIns="159175" bIns="15917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6195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marL="1371600" lvl="2" indent="-36195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marL="1828800" lvl="3" indent="-36195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marL="2286000" lvl="4" indent="-36195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marL="2743200" lvl="5" indent="-36195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marL="3200400" lvl="6" indent="-36195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marL="3657600" lvl="7" indent="-36195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marL="4114800" lvl="8" indent="-36195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9673279" y="13708144"/>
            <a:ext cx="626400" cy="1157100"/>
          </a:xfrm>
          <a:prstGeom prst="rect">
            <a:avLst/>
          </a:prstGeom>
        </p:spPr>
        <p:txBody>
          <a:bodyPr spcFirstLastPara="1" wrap="square" lIns="159175" tIns="159175" rIns="159175" bIns="15917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55878" y="1308210"/>
            <a:ext cx="9728100" cy="1683600"/>
          </a:xfrm>
          <a:prstGeom prst="rect">
            <a:avLst/>
          </a:prstGeom>
        </p:spPr>
        <p:txBody>
          <a:bodyPr spcFirstLastPara="1" wrap="square" lIns="159175" tIns="159175" rIns="159175" bIns="15917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9673279" y="13708144"/>
            <a:ext cx="626400" cy="1157100"/>
          </a:xfrm>
          <a:prstGeom prst="rect">
            <a:avLst/>
          </a:prstGeom>
        </p:spPr>
        <p:txBody>
          <a:bodyPr spcFirstLastPara="1" wrap="square" lIns="159175" tIns="159175" rIns="159175" bIns="15917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55878" y="1633260"/>
            <a:ext cx="3206100" cy="2221500"/>
          </a:xfrm>
          <a:prstGeom prst="rect">
            <a:avLst/>
          </a:prstGeom>
        </p:spPr>
        <p:txBody>
          <a:bodyPr spcFirstLastPara="1" wrap="square" lIns="159175" tIns="159175" rIns="159175" bIns="15917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55878" y="4084913"/>
            <a:ext cx="3206100" cy="9346200"/>
          </a:xfrm>
          <a:prstGeom prst="rect">
            <a:avLst/>
          </a:prstGeom>
        </p:spPr>
        <p:txBody>
          <a:bodyPr spcFirstLastPara="1" wrap="square" lIns="159175" tIns="159175" rIns="159175" bIns="159175" anchor="t" anchorCtr="0">
            <a:normAutofit/>
          </a:bodyPr>
          <a:lstStyle>
            <a:lvl1pPr marL="457200" lvl="0" indent="-36195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marL="914400" lvl="1" indent="-36195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marL="1371600" lvl="2" indent="-36195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marL="1828800" lvl="3" indent="-36195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marL="2286000" lvl="4" indent="-36195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marL="2743200" lvl="5" indent="-36195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marL="3200400" lvl="6" indent="-36195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marL="3657600" lvl="7" indent="-36195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marL="4114800" lvl="8" indent="-36195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9673279" y="13708144"/>
            <a:ext cx="626400" cy="1157100"/>
          </a:xfrm>
          <a:prstGeom prst="rect">
            <a:avLst/>
          </a:prstGeom>
        </p:spPr>
        <p:txBody>
          <a:bodyPr spcFirstLastPara="1" wrap="square" lIns="159175" tIns="159175" rIns="159175" bIns="15917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59734" y="1323276"/>
            <a:ext cx="7270200" cy="12025500"/>
          </a:xfrm>
          <a:prstGeom prst="rect">
            <a:avLst/>
          </a:prstGeom>
        </p:spPr>
        <p:txBody>
          <a:bodyPr spcFirstLastPara="1" wrap="square" lIns="159175" tIns="159175" rIns="159175" bIns="15917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673279" y="13708144"/>
            <a:ext cx="626400" cy="1157100"/>
          </a:xfrm>
          <a:prstGeom prst="rect">
            <a:avLst/>
          </a:prstGeom>
        </p:spPr>
        <p:txBody>
          <a:bodyPr spcFirstLastPara="1" wrap="square" lIns="159175" tIns="159175" rIns="159175" bIns="15917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220000" y="-367"/>
            <a:ext cx="5220000" cy="151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59175" tIns="159175" rIns="159175" bIns="159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03130" y="3625081"/>
            <a:ext cx="4618500" cy="4357500"/>
          </a:xfrm>
          <a:prstGeom prst="rect">
            <a:avLst/>
          </a:prstGeom>
        </p:spPr>
        <p:txBody>
          <a:bodyPr spcFirstLastPara="1" wrap="square" lIns="159175" tIns="159175" rIns="159175" bIns="1591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2pPr>
            <a:lvl3pPr lvl="2" algn="ctr"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3pPr>
            <a:lvl4pPr lvl="3" algn="ctr"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4pPr>
            <a:lvl5pPr lvl="4" algn="ctr"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5pPr>
            <a:lvl6pPr lvl="5" algn="ctr"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6pPr>
            <a:lvl7pPr lvl="6" algn="ctr"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7pPr>
            <a:lvl8pPr lvl="7" algn="ctr"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8pPr>
            <a:lvl9pPr lvl="8" algn="ctr"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03130" y="8240010"/>
            <a:ext cx="4618500" cy="3630600"/>
          </a:xfrm>
          <a:prstGeom prst="rect">
            <a:avLst/>
          </a:prstGeom>
        </p:spPr>
        <p:txBody>
          <a:bodyPr spcFirstLastPara="1" wrap="square" lIns="159175" tIns="159175" rIns="159175" bIns="15917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639587" y="2128514"/>
            <a:ext cx="4380900" cy="10862100"/>
          </a:xfrm>
          <a:prstGeom prst="rect">
            <a:avLst/>
          </a:prstGeom>
        </p:spPr>
        <p:txBody>
          <a:bodyPr spcFirstLastPara="1" wrap="square" lIns="159175" tIns="159175" rIns="159175" bIns="159175" anchor="ctr" anchorCtr="0">
            <a:normAutofit/>
          </a:bodyPr>
          <a:lstStyle>
            <a:lvl1pPr marL="457200" lvl="0" indent="-425450">
              <a:spcBef>
                <a:spcPts val="0"/>
              </a:spcBef>
              <a:spcAft>
                <a:spcPts val="0"/>
              </a:spcAft>
              <a:buSzPts val="31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673279" y="13708144"/>
            <a:ext cx="626400" cy="1157100"/>
          </a:xfrm>
          <a:prstGeom prst="rect">
            <a:avLst/>
          </a:prstGeom>
        </p:spPr>
        <p:txBody>
          <a:bodyPr spcFirstLastPara="1" wrap="square" lIns="159175" tIns="159175" rIns="159175" bIns="15917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55878" y="12436336"/>
            <a:ext cx="6849000" cy="1778700"/>
          </a:xfrm>
          <a:prstGeom prst="rect">
            <a:avLst/>
          </a:prstGeom>
        </p:spPr>
        <p:txBody>
          <a:bodyPr spcFirstLastPara="1" wrap="square" lIns="159175" tIns="159175" rIns="159175" bIns="15917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9673279" y="13708144"/>
            <a:ext cx="626400" cy="1157100"/>
          </a:xfrm>
          <a:prstGeom prst="rect">
            <a:avLst/>
          </a:prstGeom>
        </p:spPr>
        <p:txBody>
          <a:bodyPr spcFirstLastPara="1" wrap="square" lIns="159175" tIns="159175" rIns="159175" bIns="15917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55878" y="3251601"/>
            <a:ext cx="9728100" cy="5772000"/>
          </a:xfrm>
          <a:prstGeom prst="rect">
            <a:avLst/>
          </a:prstGeom>
        </p:spPr>
        <p:txBody>
          <a:bodyPr spcFirstLastPara="1" wrap="square" lIns="159175" tIns="159175" rIns="159175" bIns="15917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55878" y="9266383"/>
            <a:ext cx="9728100" cy="3823800"/>
          </a:xfrm>
          <a:prstGeom prst="rect">
            <a:avLst/>
          </a:prstGeom>
        </p:spPr>
        <p:txBody>
          <a:bodyPr spcFirstLastPara="1" wrap="square" lIns="159175" tIns="159175" rIns="159175" bIns="159175" anchor="t" anchorCtr="0">
            <a:normAutofit/>
          </a:bodyPr>
          <a:lstStyle>
            <a:lvl1pPr marL="457200" lvl="0" indent="-425450" algn="ctr">
              <a:spcBef>
                <a:spcPts val="0"/>
              </a:spcBef>
              <a:spcAft>
                <a:spcPts val="0"/>
              </a:spcAft>
              <a:buSzPts val="3100"/>
              <a:buChar char="●"/>
              <a:defRPr/>
            </a:lvl1pPr>
            <a:lvl2pPr marL="914400" lvl="1" indent="-38100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9673279" y="13708144"/>
            <a:ext cx="626400" cy="1157100"/>
          </a:xfrm>
          <a:prstGeom prst="rect">
            <a:avLst/>
          </a:prstGeom>
        </p:spPr>
        <p:txBody>
          <a:bodyPr spcFirstLastPara="1" wrap="square" lIns="159175" tIns="159175" rIns="159175" bIns="15917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9673279" y="13708144"/>
            <a:ext cx="626400" cy="1157100"/>
          </a:xfrm>
          <a:prstGeom prst="rect">
            <a:avLst/>
          </a:prstGeom>
        </p:spPr>
        <p:txBody>
          <a:bodyPr spcFirstLastPara="1" wrap="square" lIns="159175" tIns="159175" rIns="159175" bIns="15917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55878" y="1308210"/>
            <a:ext cx="9728100" cy="16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175" tIns="159175" rIns="159175" bIns="15917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55878" y="3387853"/>
            <a:ext cx="9728100" cy="100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175" tIns="159175" rIns="159175" bIns="159175" anchor="t" anchorCtr="0">
            <a:normAutofit/>
          </a:bodyPr>
          <a:lstStyle>
            <a:lvl1pPr marL="457200" lvl="0" indent="-425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Char char="●"/>
              <a:defRPr sz="3100">
                <a:solidFill>
                  <a:schemeClr val="dk2"/>
                </a:solidFill>
              </a:defRPr>
            </a:lvl1pPr>
            <a:lvl2pPr marL="914400" lvl="1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○"/>
              <a:defRPr sz="2400">
                <a:solidFill>
                  <a:schemeClr val="dk2"/>
                </a:solidFill>
              </a:defRPr>
            </a:lvl2pPr>
            <a:lvl3pPr marL="1371600" lvl="2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 sz="2400">
                <a:solidFill>
                  <a:schemeClr val="dk2"/>
                </a:solidFill>
              </a:defRPr>
            </a:lvl3pPr>
            <a:lvl4pPr marL="1828800" lvl="3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○"/>
              <a:defRPr sz="2400">
                <a:solidFill>
                  <a:schemeClr val="dk2"/>
                </a:solidFill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 sz="2400">
                <a:solidFill>
                  <a:schemeClr val="dk2"/>
                </a:solidFill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○"/>
              <a:defRPr sz="2400">
                <a:solidFill>
                  <a:schemeClr val="dk2"/>
                </a:solidFill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673279" y="13708144"/>
            <a:ext cx="626400" cy="11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9175" tIns="159175" rIns="159175" bIns="159175" anchor="ctr" anchorCtr="0">
            <a:normAutofit/>
          </a:bodyPr>
          <a:lstStyle>
            <a:lvl1pPr lvl="0" algn="r">
              <a:buNone/>
              <a:defRPr sz="1700">
                <a:solidFill>
                  <a:schemeClr val="dk2"/>
                </a:solidFill>
              </a:defRPr>
            </a:lvl1pPr>
            <a:lvl2pPr lvl="1" algn="r">
              <a:buNone/>
              <a:defRPr sz="1700">
                <a:solidFill>
                  <a:schemeClr val="dk2"/>
                </a:solidFill>
              </a:defRPr>
            </a:lvl2pPr>
            <a:lvl3pPr lvl="2" algn="r">
              <a:buNone/>
              <a:defRPr sz="1700">
                <a:solidFill>
                  <a:schemeClr val="dk2"/>
                </a:solidFill>
              </a:defRPr>
            </a:lvl3pPr>
            <a:lvl4pPr lvl="3" algn="r">
              <a:buNone/>
              <a:defRPr sz="1700">
                <a:solidFill>
                  <a:schemeClr val="dk2"/>
                </a:solidFill>
              </a:defRPr>
            </a:lvl4pPr>
            <a:lvl5pPr lvl="4" algn="r">
              <a:buNone/>
              <a:defRPr sz="1700">
                <a:solidFill>
                  <a:schemeClr val="dk2"/>
                </a:solidFill>
              </a:defRPr>
            </a:lvl5pPr>
            <a:lvl6pPr lvl="5" algn="r">
              <a:buNone/>
              <a:defRPr sz="1700">
                <a:solidFill>
                  <a:schemeClr val="dk2"/>
                </a:solidFill>
              </a:defRPr>
            </a:lvl6pPr>
            <a:lvl7pPr lvl="6" algn="r">
              <a:buNone/>
              <a:defRPr sz="1700">
                <a:solidFill>
                  <a:schemeClr val="dk2"/>
                </a:solidFill>
              </a:defRPr>
            </a:lvl7pPr>
            <a:lvl8pPr lvl="7" algn="r">
              <a:buNone/>
              <a:defRPr sz="1700">
                <a:solidFill>
                  <a:schemeClr val="dk2"/>
                </a:solidFill>
              </a:defRPr>
            </a:lvl8pPr>
            <a:lvl9pPr lvl="8" algn="r">
              <a:buNone/>
              <a:defRPr sz="17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7.JP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anner MNR 2025_page-000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" y="0"/>
            <a:ext cx="10439297" cy="151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5213025" y="13048305"/>
            <a:ext cx="4766700" cy="1037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190725" y="10993974"/>
            <a:ext cx="4690500" cy="309540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190725" y="5197475"/>
            <a:ext cx="4766700" cy="2652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266925" y="1460600"/>
            <a:ext cx="9719700" cy="168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266925" y="3291200"/>
            <a:ext cx="9719700" cy="811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b="1">
                <a:solidFill>
                  <a:schemeClr val="dk1"/>
                </a:solidFill>
              </a:rPr>
              <a:t>Lorenzo da Silva Rodrigues, Vitor Johnny das Graças, Gustavo Polydoro Monteiro, Tomáz Augusto de Oliveira Silva, Gustavo Henrique Cobello Lima, Emanuelle Maria Ferreira Marques</a:t>
            </a:r>
            <a:endParaRPr sz="1100" u="sng">
              <a:solidFill>
                <a:schemeClr val="dk1"/>
              </a:solidFill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266925" y="4243700"/>
            <a:ext cx="9719700" cy="811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100" b="1" dirty="0">
                <a:solidFill>
                  <a:schemeClr val="dk1"/>
                </a:solidFill>
              </a:rPr>
              <a:t>Gilberto </a:t>
            </a:r>
            <a:r>
              <a:rPr lang="pt-BR" sz="1100" b="1" dirty="0" err="1">
                <a:solidFill>
                  <a:schemeClr val="dk1"/>
                </a:solidFill>
              </a:rPr>
              <a:t>Sandrini</a:t>
            </a:r>
            <a:r>
              <a:rPr lang="pt-BR" sz="1100" b="1" dirty="0">
                <a:solidFill>
                  <a:schemeClr val="dk1"/>
                </a:solidFill>
              </a:rPr>
              <a:t> </a:t>
            </a:r>
            <a:r>
              <a:rPr lang="pt-BR" sz="1100" b="1" dirty="0" err="1">
                <a:solidFill>
                  <a:schemeClr val="dk1"/>
                </a:solidFill>
              </a:rPr>
              <a:t>Saiotti</a:t>
            </a:r>
            <a:r>
              <a:rPr lang="pt-BR" sz="1100" b="1" dirty="0">
                <a:solidFill>
                  <a:schemeClr val="dk1"/>
                </a:solidFill>
              </a:rPr>
              <a:t>				                Centro Educacional SESI 192</a:t>
            </a:r>
            <a:endParaRPr sz="1000" u="sng" dirty="0">
              <a:solidFill>
                <a:schemeClr val="dk1"/>
              </a:solidFill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5220000" y="5197475"/>
            <a:ext cx="4766700" cy="2659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5220000" y="8037988"/>
            <a:ext cx="4766700" cy="2692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190725" y="8022200"/>
            <a:ext cx="4766700" cy="2692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392104" y="1486425"/>
            <a:ext cx="7179300" cy="13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67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800" b="1">
                <a:solidFill>
                  <a:srgbClr val="32BCE7"/>
                </a:solidFill>
                <a:latin typeface="Calibri"/>
                <a:ea typeface="Calibri"/>
                <a:cs typeface="Calibri"/>
                <a:sym typeface="Calibri"/>
              </a:rPr>
              <a:t>VISÃO COMPUTACIONAL APLICADA AO ROBÔ DE RESGATE OBR</a:t>
            </a:r>
            <a:endParaRPr sz="1700">
              <a:solidFill>
                <a:srgbClr val="32BCE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1295" lvl="0" indent="0" algn="l" rtl="0">
              <a:spcBef>
                <a:spcPts val="100"/>
              </a:spcBef>
              <a:spcAft>
                <a:spcPts val="0"/>
              </a:spcAft>
              <a:buNone/>
            </a:pPr>
            <a:endParaRPr sz="1000">
              <a:solidFill>
                <a:srgbClr val="32BCE7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13"/>
          <p:cNvSpPr txBox="1"/>
          <p:nvPr/>
        </p:nvSpPr>
        <p:spPr>
          <a:xfrm flipH="1">
            <a:off x="392102" y="3344093"/>
            <a:ext cx="8142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2AF28"/>
                </a:solidFill>
                <a:latin typeface="Arial Black"/>
                <a:ea typeface="Arial Black"/>
                <a:cs typeface="Arial Black"/>
                <a:sym typeface="Arial Black"/>
              </a:rPr>
              <a:t>Autores:</a:t>
            </a:r>
            <a:endParaRPr sz="1200">
              <a:solidFill>
                <a:srgbClr val="F2AF28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392098" y="4244169"/>
            <a:ext cx="1125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2AF28"/>
                </a:solidFill>
                <a:latin typeface="Arial Black"/>
                <a:ea typeface="Arial Black"/>
                <a:cs typeface="Arial Black"/>
                <a:sym typeface="Arial Black"/>
              </a:rPr>
              <a:t>Orientador:</a:t>
            </a:r>
            <a:endParaRPr sz="1200">
              <a:solidFill>
                <a:srgbClr val="F2AF28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449800" y="8077500"/>
            <a:ext cx="4267800" cy="2443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F2AF28"/>
                </a:solidFill>
                <a:latin typeface="Arial Black"/>
                <a:ea typeface="Arial Black"/>
                <a:cs typeface="Arial Black"/>
                <a:sym typeface="Arial Black"/>
              </a:rPr>
              <a:t>OBJETIVOS</a:t>
            </a:r>
            <a:endParaRPr sz="1200" dirty="0">
              <a:solidFill>
                <a:srgbClr val="F2AF28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12700" lvl="0"/>
            <a:r>
              <a:rPr lang="pt-BR" sz="1100" dirty="0"/>
              <a:t>O objetivo principal deste projeto foi desenvolver um robô autônomo, funcional e sustentável capaz de superar os desafios da OBR. Entre os objetivos específicos, destacam-se a integração da visão computacional como núcleo de tomada de decisão, superando limitações dos sensores infravermelhos tradicionais; o uso de sensores ultrassônicos e câmera acessível para navegação segura; a implementação de uma base composta por duas rodas omnidirecionais na traseira, garantindo estabilidade e mobilidade; e a criação de uma garra lateral eficiente para o resgate de esferas. Além disso, buscou-se aplicar metodologias ágeis de gestão, favorecer a divisão equilibrada de tarefas e demonstrar a viabilidade de soluções sustentáveis e acessíveis em robótica educacional, reforçando o impacto técnico, ambiental e pedagógico da proposta.</a:t>
            </a:r>
            <a:endParaRPr sz="1100" b="1" u="sng" dirty="0">
              <a:solidFill>
                <a:schemeClr val="dk1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5566275" y="4277069"/>
            <a:ext cx="25464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F2AF28"/>
                </a:solidFill>
                <a:latin typeface="Arial Black"/>
                <a:ea typeface="Arial Black"/>
                <a:cs typeface="Arial Black"/>
                <a:sym typeface="Arial Black"/>
              </a:rPr>
              <a:t>Instituição:</a:t>
            </a:r>
            <a:endParaRPr sz="1200">
              <a:solidFill>
                <a:srgbClr val="F2AF28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362950" y="5328131"/>
            <a:ext cx="4421100" cy="2273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F2AF28"/>
                </a:solidFill>
                <a:latin typeface="Arial Black"/>
                <a:ea typeface="Arial Black"/>
                <a:cs typeface="Arial Black"/>
                <a:sym typeface="Arial Black"/>
              </a:rPr>
              <a:t>INTRODUÇÃO</a:t>
            </a:r>
            <a:endParaRPr sz="1200" dirty="0">
              <a:solidFill>
                <a:srgbClr val="17003D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12700" lvl="0"/>
            <a:r>
              <a:rPr lang="pt-BR" sz="1100" dirty="0">
                <a:solidFill>
                  <a:schemeClr val="dk1"/>
                </a:solidFill>
              </a:rPr>
              <a:t>A robótica educacional tem se destacado no ensino interdisciplinar em STEAM, promovendo protagonismo e inovação entre os estudantes (Robótica Educacional no Brasil, 2024). Este projeto apresenta o desenvolvimento de um robô autônomo para a Olimpíada Brasileira de Robótica (OBR), integrando modelagem 3D no Autodesk Fusion 360, sensores ultrassônicos, </a:t>
            </a:r>
            <a:r>
              <a:rPr lang="pt-BR" sz="1100" dirty="0" err="1">
                <a:solidFill>
                  <a:schemeClr val="dk1"/>
                </a:solidFill>
              </a:rPr>
              <a:t>Raspberry</a:t>
            </a:r>
            <a:r>
              <a:rPr lang="pt-BR" sz="1100" dirty="0">
                <a:solidFill>
                  <a:schemeClr val="dk1"/>
                </a:solidFill>
              </a:rPr>
              <a:t> </a:t>
            </a:r>
            <a:r>
              <a:rPr lang="pt-BR" sz="1100" dirty="0" err="1">
                <a:solidFill>
                  <a:schemeClr val="dk1"/>
                </a:solidFill>
              </a:rPr>
              <a:t>Pi</a:t>
            </a:r>
            <a:r>
              <a:rPr lang="pt-BR" sz="1100" dirty="0">
                <a:solidFill>
                  <a:schemeClr val="dk1"/>
                </a:solidFill>
              </a:rPr>
              <a:t> 4 e visão computacional com </a:t>
            </a:r>
            <a:r>
              <a:rPr lang="pt-BR" sz="1100" dirty="0" err="1">
                <a:solidFill>
                  <a:schemeClr val="dk1"/>
                </a:solidFill>
              </a:rPr>
              <a:t>OpenCV</a:t>
            </a:r>
            <a:r>
              <a:rPr lang="pt-BR" sz="1100" dirty="0">
                <a:solidFill>
                  <a:schemeClr val="dk1"/>
                </a:solidFill>
              </a:rPr>
              <a:t> para reconhecimento de cores em tempo real. A carenagem sustentável, feita de papel reciclado e gelatina, reforça o compromisso ambiental com leveza e resistência. O processo foi guiado pelo Ciclo </a:t>
            </a:r>
            <a:r>
              <a:rPr lang="pt-BR" sz="1100" dirty="0" err="1">
                <a:solidFill>
                  <a:schemeClr val="dk1"/>
                </a:solidFill>
              </a:rPr>
              <a:t>Raidens</a:t>
            </a:r>
            <a:r>
              <a:rPr lang="pt-BR" sz="1100" dirty="0">
                <a:solidFill>
                  <a:schemeClr val="dk1"/>
                </a:solidFill>
              </a:rPr>
              <a:t>, metodologia que combina rotação de estações, técnica </a:t>
            </a:r>
            <a:r>
              <a:rPr lang="pt-BR" sz="1100" dirty="0" err="1">
                <a:solidFill>
                  <a:schemeClr val="dk1"/>
                </a:solidFill>
              </a:rPr>
              <a:t>Pomodoro</a:t>
            </a:r>
            <a:r>
              <a:rPr lang="pt-BR" sz="1100" dirty="0">
                <a:solidFill>
                  <a:schemeClr val="dk1"/>
                </a:solidFill>
              </a:rPr>
              <a:t> e </a:t>
            </a:r>
            <a:r>
              <a:rPr lang="pt-BR" sz="1100" dirty="0" err="1">
                <a:solidFill>
                  <a:schemeClr val="dk1"/>
                </a:solidFill>
              </a:rPr>
              <a:t>Kanban</a:t>
            </a:r>
            <a:r>
              <a:rPr lang="pt-BR" sz="1100" dirty="0">
                <a:solidFill>
                  <a:schemeClr val="dk1"/>
                </a:solidFill>
              </a:rPr>
              <a:t> digital, garantindo organização e evolução contínua do protótipo.</a:t>
            </a:r>
            <a:endParaRPr sz="1100" dirty="0">
              <a:solidFill>
                <a:srgbClr val="828185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409956" y="11087425"/>
            <a:ext cx="4334400" cy="17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F2AF28"/>
                </a:solidFill>
                <a:latin typeface="Arial Black"/>
                <a:ea typeface="Arial Black"/>
                <a:cs typeface="Arial Black"/>
                <a:sym typeface="Arial Black"/>
              </a:rPr>
              <a:t>MATERIAIS E MÉTODOS </a:t>
            </a:r>
            <a:endParaRPr sz="1200" dirty="0">
              <a:solidFill>
                <a:srgbClr val="17003D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</a:rPr>
              <a:t>O projeto seguiu quatro fases: pesquisa, conceituação, modelagem 3D e prototipagem. Após análise do regulamento da OBR e validação de hipóteses com profissionais de mecânica, química e eletrônica, a equipe realizou modelagem no Autodesk Fusion 360 e prototipagem no laboratório </a:t>
            </a:r>
            <a:r>
              <a:rPr lang="pt-BR" sz="1100" dirty="0" err="1">
                <a:solidFill>
                  <a:schemeClr val="dk1"/>
                </a:solidFill>
              </a:rPr>
              <a:t>Maker</a:t>
            </a:r>
            <a:r>
              <a:rPr lang="pt-BR" sz="1100" dirty="0">
                <a:solidFill>
                  <a:schemeClr val="dk1"/>
                </a:solidFill>
              </a:rPr>
              <a:t> do SESI 192, usando MDF, acrílico e peças personalizadas. Os testes em arena simulada avaliaram seguimento de linha, cores, obstáculos e garra, sendo cada funcionalidade repetida ao menos dez vezes, com registros de tempo médio de resgate, precisão e taxa de acerto.</a:t>
            </a:r>
            <a:endParaRPr sz="19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5435925" y="5304799"/>
            <a:ext cx="4334400" cy="1258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F2AF28"/>
                </a:solidFill>
                <a:latin typeface="Arial Black"/>
                <a:ea typeface="Arial Black"/>
                <a:cs typeface="Arial Black"/>
                <a:sym typeface="Arial Black"/>
              </a:rPr>
              <a:t>O ROBÔ</a:t>
            </a:r>
            <a:endParaRPr sz="1200" dirty="0">
              <a:solidFill>
                <a:srgbClr val="F2AF28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/>
              <a:t>O protótipo foi projetado para atuar de forma autônoma na arena da OBR, realizando seguimento de linha, reconhecimento de zonas de resgate e desvio de obstáculos. A visão computacional em Python 3 com </a:t>
            </a:r>
            <a:r>
              <a:rPr lang="pt-BR" sz="1100" dirty="0" err="1"/>
              <a:t>OpenCV</a:t>
            </a:r>
            <a:r>
              <a:rPr lang="pt-BR" sz="1100" dirty="0"/>
              <a:t> identificou cores como preto, vermelho, verde, azul e prata, enquanto o sensor ultrassônico detectou obstáculos acima de 20 cm. A locomoção, composta por duas rodas omnidirecionais e</a:t>
            </a:r>
            <a:endParaRPr sz="1100" dirty="0"/>
          </a:p>
        </p:txBody>
      </p:sp>
      <p:sp>
        <p:nvSpPr>
          <p:cNvPr id="72" name="Google Shape;72;p13"/>
          <p:cNvSpPr txBox="1"/>
          <p:nvPr/>
        </p:nvSpPr>
        <p:spPr>
          <a:xfrm>
            <a:off x="5431450" y="8095600"/>
            <a:ext cx="4334400" cy="159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F2AF28"/>
                </a:solidFill>
                <a:latin typeface="Arial Black"/>
                <a:ea typeface="Arial Black"/>
                <a:cs typeface="Arial Black"/>
                <a:sym typeface="Arial Black"/>
              </a:rPr>
              <a:t>RESULTADOS E CONCLUSÕES </a:t>
            </a:r>
            <a:endParaRPr sz="1000" dirty="0">
              <a:solidFill>
                <a:srgbClr val="17003D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</a:rPr>
              <a:t>Nos testes, o robô mostrou bom desempenho ao identificar obstáculos a mais de 20 cm, reconhecer cores com precisão e realizar resgates em menos de cinco segundos, mantendo estabilidade em rampas e curvas. A visão computacional garantiu respostas confiáveis, mas a iluminação influenciou bastante, exigindo calibração constante e reduzindo a taxa de acerto em ambientes muito claros ou com sombras. Apesar dessas limitações e do tempo reduzido de testes em arenas oficiais, o projeto comprovou seu</a:t>
            </a:r>
            <a:endParaRPr sz="1000" dirty="0">
              <a:solidFill>
                <a:srgbClr val="17003D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5296200" y="13093915"/>
            <a:ext cx="4596000" cy="9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F2AF28"/>
                </a:solidFill>
                <a:latin typeface="Arial Black"/>
                <a:ea typeface="Arial Black"/>
                <a:cs typeface="Arial Black"/>
                <a:sym typeface="Arial Black"/>
              </a:rPr>
              <a:t>AGRADECIMENTOS</a:t>
            </a:r>
            <a:endParaRPr sz="1200" dirty="0">
              <a:solidFill>
                <a:srgbClr val="F2AF28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</a:rPr>
              <a:t>A equipe agradece ao técnico Gilberto </a:t>
            </a:r>
            <a:r>
              <a:rPr lang="pt-BR" sz="1100" dirty="0" err="1">
                <a:solidFill>
                  <a:schemeClr val="dk1"/>
                </a:solidFill>
              </a:rPr>
              <a:t>Sandrini</a:t>
            </a:r>
            <a:r>
              <a:rPr lang="pt-BR" sz="1100" dirty="0">
                <a:solidFill>
                  <a:schemeClr val="dk1"/>
                </a:solidFill>
              </a:rPr>
              <a:t> </a:t>
            </a:r>
            <a:r>
              <a:rPr lang="pt-BR" sz="1100" dirty="0" err="1">
                <a:solidFill>
                  <a:schemeClr val="dk1"/>
                </a:solidFill>
              </a:rPr>
              <a:t>Saiotti</a:t>
            </a:r>
            <a:r>
              <a:rPr lang="pt-BR" sz="1100" dirty="0">
                <a:solidFill>
                  <a:schemeClr val="dk1"/>
                </a:solidFill>
              </a:rPr>
              <a:t>, à química e física Roberta Moraes e ao engenheiro </a:t>
            </a:r>
            <a:r>
              <a:rPr lang="pt-BR" sz="1100" dirty="0" err="1">
                <a:solidFill>
                  <a:schemeClr val="dk1"/>
                </a:solidFill>
              </a:rPr>
              <a:t>Takashi</a:t>
            </a:r>
            <a:r>
              <a:rPr lang="pt-BR" sz="1100" dirty="0">
                <a:solidFill>
                  <a:schemeClr val="dk1"/>
                </a:solidFill>
              </a:rPr>
              <a:t> </a:t>
            </a:r>
            <a:r>
              <a:rPr lang="pt-BR" sz="1100" dirty="0" err="1">
                <a:solidFill>
                  <a:schemeClr val="dk1"/>
                </a:solidFill>
              </a:rPr>
              <a:t>Ishimaru</a:t>
            </a:r>
            <a:r>
              <a:rPr lang="pt-BR" sz="1100" dirty="0">
                <a:solidFill>
                  <a:schemeClr val="dk1"/>
                </a:solidFill>
              </a:rPr>
              <a:t> pelas orientações técnicas essenciais, e à Mostra Nacional de Robótica pelo incentivo à inovação na educação.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5219925" y="10993975"/>
            <a:ext cx="4766700" cy="183771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	</a:t>
            </a:r>
            <a:endParaRPr/>
          </a:p>
        </p:txBody>
      </p:sp>
      <p:sp>
        <p:nvSpPr>
          <p:cNvPr id="75" name="Google Shape;75;p13"/>
          <p:cNvSpPr txBox="1"/>
          <p:nvPr/>
        </p:nvSpPr>
        <p:spPr>
          <a:xfrm>
            <a:off x="5431450" y="11046118"/>
            <a:ext cx="4334400" cy="159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F2AF28"/>
                </a:solidFill>
                <a:latin typeface="Arial Black"/>
                <a:ea typeface="Arial Black"/>
                <a:cs typeface="Arial Black"/>
                <a:sym typeface="Arial Black"/>
              </a:rPr>
              <a:t>REFERÊNCIAS BIBLIOGRÁFICAS </a:t>
            </a:r>
            <a:endParaRPr sz="1200" dirty="0">
              <a:solidFill>
                <a:srgbClr val="17003D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dirty="0">
                <a:solidFill>
                  <a:schemeClr val="dk1"/>
                </a:solidFill>
              </a:rPr>
              <a:t>Robótica Educacional no Brasil: uma revisão sistemática. Revista FT, 2024.</a:t>
            </a:r>
            <a:endParaRPr sz="1100" dirty="0">
              <a:solidFill>
                <a:schemeClr val="dk1"/>
              </a:solidFill>
            </a:endParaRPr>
          </a:p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dirty="0">
                <a:solidFill>
                  <a:schemeClr val="dk1"/>
                </a:solidFill>
              </a:rPr>
              <a:t>Meneses, M. C. </a:t>
            </a:r>
            <a:r>
              <a:rPr lang="pt-BR" sz="1100" i="1" dirty="0">
                <a:solidFill>
                  <a:schemeClr val="dk1"/>
                </a:solidFill>
              </a:rPr>
              <a:t>Sistema de Navegação Autônomo Baseado em Visão Computacional</a:t>
            </a:r>
            <a:r>
              <a:rPr lang="pt-BR" sz="1100" dirty="0">
                <a:solidFill>
                  <a:schemeClr val="dk1"/>
                </a:solidFill>
              </a:rPr>
              <a:t>. </a:t>
            </a:r>
            <a:r>
              <a:rPr lang="pt-BR" sz="1100" dirty="0" err="1">
                <a:solidFill>
                  <a:schemeClr val="dk1"/>
                </a:solidFill>
              </a:rPr>
              <a:t>arXiv</a:t>
            </a:r>
            <a:r>
              <a:rPr lang="pt-BR" sz="1100" dirty="0">
                <a:solidFill>
                  <a:schemeClr val="dk1"/>
                </a:solidFill>
              </a:rPr>
              <a:t>, 2017.</a:t>
            </a:r>
            <a:endParaRPr sz="1100" dirty="0">
              <a:solidFill>
                <a:schemeClr val="dk1"/>
              </a:solidFill>
            </a:endParaRPr>
          </a:p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dirty="0">
                <a:solidFill>
                  <a:schemeClr val="dk1"/>
                </a:solidFill>
              </a:rPr>
              <a:t>Parreira, R. A.; Batista, G. S.; Lima, A. M. </a:t>
            </a:r>
            <a:r>
              <a:rPr lang="pt-BR" sz="1100" i="1" dirty="0">
                <a:solidFill>
                  <a:schemeClr val="dk1"/>
                </a:solidFill>
              </a:rPr>
              <a:t>Robótica na Educação: uma revisão da literatura</a:t>
            </a:r>
            <a:r>
              <a:rPr lang="pt-BR" sz="1100" dirty="0">
                <a:solidFill>
                  <a:schemeClr val="dk1"/>
                </a:solidFill>
              </a:rPr>
              <a:t>. Anais da MNR, 2022.</a:t>
            </a:r>
            <a:endParaRPr sz="1100" dirty="0">
              <a:solidFill>
                <a:schemeClr val="dk1"/>
              </a:solidFill>
            </a:endParaRPr>
          </a:p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1100" dirty="0" err="1">
                <a:solidFill>
                  <a:schemeClr val="dk1"/>
                </a:solidFill>
              </a:rPr>
              <a:t>Shoyeb</a:t>
            </a:r>
            <a:r>
              <a:rPr lang="pt-BR" sz="1100" dirty="0">
                <a:solidFill>
                  <a:schemeClr val="dk1"/>
                </a:solidFill>
              </a:rPr>
              <a:t>, A. </a:t>
            </a:r>
            <a:r>
              <a:rPr lang="pt-BR" sz="1100" i="1" dirty="0" err="1">
                <a:solidFill>
                  <a:schemeClr val="dk1"/>
                </a:solidFill>
              </a:rPr>
              <a:t>Development</a:t>
            </a:r>
            <a:r>
              <a:rPr lang="pt-BR" sz="1100" i="1" dirty="0">
                <a:solidFill>
                  <a:schemeClr val="dk1"/>
                </a:solidFill>
              </a:rPr>
              <a:t> </a:t>
            </a:r>
            <a:r>
              <a:rPr lang="pt-BR" sz="1100" i="1" dirty="0" err="1">
                <a:solidFill>
                  <a:schemeClr val="dk1"/>
                </a:solidFill>
              </a:rPr>
              <a:t>of</a:t>
            </a:r>
            <a:r>
              <a:rPr lang="pt-BR" sz="1100" i="1" dirty="0">
                <a:solidFill>
                  <a:schemeClr val="dk1"/>
                </a:solidFill>
              </a:rPr>
              <a:t> a Computer Vision </a:t>
            </a:r>
            <a:r>
              <a:rPr lang="pt-BR" sz="1100" i="1" dirty="0" err="1">
                <a:solidFill>
                  <a:schemeClr val="dk1"/>
                </a:solidFill>
              </a:rPr>
              <a:t>Based</a:t>
            </a:r>
            <a:r>
              <a:rPr lang="pt-BR" sz="1100" i="1" dirty="0">
                <a:solidFill>
                  <a:schemeClr val="dk1"/>
                </a:solidFill>
              </a:rPr>
              <a:t> </a:t>
            </a:r>
            <a:r>
              <a:rPr lang="pt-BR" sz="1100" i="1" dirty="0" err="1">
                <a:solidFill>
                  <a:schemeClr val="dk1"/>
                </a:solidFill>
              </a:rPr>
              <a:t>Robotic</a:t>
            </a:r>
            <a:r>
              <a:rPr lang="pt-BR" sz="1100" i="1" dirty="0">
                <a:solidFill>
                  <a:schemeClr val="dk1"/>
                </a:solidFill>
              </a:rPr>
              <a:t> </a:t>
            </a:r>
            <a:r>
              <a:rPr lang="pt-BR" sz="1100" i="1" dirty="0" err="1">
                <a:solidFill>
                  <a:schemeClr val="dk1"/>
                </a:solidFill>
              </a:rPr>
              <a:t>Guidance</a:t>
            </a:r>
            <a:r>
              <a:rPr lang="pt-BR" sz="1100" i="1" dirty="0">
                <a:solidFill>
                  <a:schemeClr val="dk1"/>
                </a:solidFill>
              </a:rPr>
              <a:t> System </a:t>
            </a:r>
            <a:r>
              <a:rPr lang="pt-BR" sz="1100" i="1" dirty="0" err="1">
                <a:solidFill>
                  <a:schemeClr val="dk1"/>
                </a:solidFill>
              </a:rPr>
              <a:t>Using</a:t>
            </a:r>
            <a:r>
              <a:rPr lang="pt-BR" sz="1100" i="1" dirty="0">
                <a:solidFill>
                  <a:schemeClr val="dk1"/>
                </a:solidFill>
              </a:rPr>
              <a:t> </a:t>
            </a:r>
            <a:r>
              <a:rPr lang="pt-BR" sz="1100" i="1" dirty="0" err="1">
                <a:solidFill>
                  <a:schemeClr val="dk1"/>
                </a:solidFill>
              </a:rPr>
              <a:t>Raspberry</a:t>
            </a:r>
            <a:r>
              <a:rPr lang="pt-BR" sz="1100" i="1" dirty="0">
                <a:solidFill>
                  <a:schemeClr val="dk1"/>
                </a:solidFill>
              </a:rPr>
              <a:t> </a:t>
            </a:r>
            <a:r>
              <a:rPr lang="pt-BR" sz="1100" i="1" dirty="0" err="1">
                <a:solidFill>
                  <a:schemeClr val="dk1"/>
                </a:solidFill>
              </a:rPr>
              <a:t>Pi</a:t>
            </a:r>
            <a:r>
              <a:rPr lang="pt-BR" sz="1100" dirty="0">
                <a:solidFill>
                  <a:schemeClr val="dk1"/>
                </a:solidFill>
              </a:rPr>
              <a:t>. IJCA, 2020.</a:t>
            </a:r>
            <a:endParaRPr sz="1100" b="1" u="sng" dirty="0">
              <a:solidFill>
                <a:schemeClr val="dk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8F7EAB2-D06C-437F-BE09-74AD7A089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8289" y="9730241"/>
            <a:ext cx="851167" cy="856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Google Shape;72;p13">
            <a:extLst>
              <a:ext uri="{FF2B5EF4-FFF2-40B4-BE49-F238E27FC236}">
                <a16:creationId xmlns:a16="http://schemas.microsoft.com/office/drawing/2014/main" id="{B621C691-B26E-4610-9A19-0AB75FB1717A}"/>
              </a:ext>
            </a:extLst>
          </p:cNvPr>
          <p:cNvSpPr txBox="1"/>
          <p:nvPr/>
        </p:nvSpPr>
        <p:spPr>
          <a:xfrm>
            <a:off x="5435925" y="9609482"/>
            <a:ext cx="3271315" cy="90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</a:rPr>
              <a:t>potencial técnico, sustentável e educacional, com perspectivas de ampliar os experimentos e integrar modelos leves de inteligência artificial, como </a:t>
            </a:r>
            <a:r>
              <a:rPr lang="pt-BR" sz="1100" dirty="0" err="1">
                <a:solidFill>
                  <a:schemeClr val="dk1"/>
                </a:solidFill>
              </a:rPr>
              <a:t>MobileNet</a:t>
            </a:r>
            <a:r>
              <a:rPr lang="pt-BR" sz="1100" dirty="0">
                <a:solidFill>
                  <a:schemeClr val="dk1"/>
                </a:solidFill>
              </a:rPr>
              <a:t> SSD ou FOMO, para reduzir a sensibilidade à iluminação e aumentar a autonomia.</a:t>
            </a:r>
            <a:endParaRPr sz="1000" dirty="0">
              <a:solidFill>
                <a:srgbClr val="17003D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BF14C6A-8046-4E52-9F12-53AC5D709C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l="25834" t="23225" r="1827" b="785"/>
          <a:stretch/>
        </p:blipFill>
        <p:spPr>
          <a:xfrm>
            <a:off x="8439818" y="6580242"/>
            <a:ext cx="1280720" cy="100902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059731B-3BF6-4540-A5FE-45D34D60E9C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9091" t="6895" r="27598" b="13756"/>
          <a:stretch/>
        </p:blipFill>
        <p:spPr>
          <a:xfrm rot="16200000">
            <a:off x="3586845" y="12695919"/>
            <a:ext cx="919801" cy="1026790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89019095-EACD-48D8-81BE-525D6B97BD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0" t="13931" r="10563" b="5556"/>
          <a:stretch/>
        </p:blipFill>
        <p:spPr bwMode="auto">
          <a:xfrm flipH="1">
            <a:off x="1517099" y="12913878"/>
            <a:ext cx="939654" cy="7484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Google Shape;71;p13">
            <a:extLst>
              <a:ext uri="{FF2B5EF4-FFF2-40B4-BE49-F238E27FC236}">
                <a16:creationId xmlns:a16="http://schemas.microsoft.com/office/drawing/2014/main" id="{0E2670C2-0CB5-4898-AD8B-32BC46FEE0EE}"/>
              </a:ext>
            </a:extLst>
          </p:cNvPr>
          <p:cNvSpPr txBox="1"/>
          <p:nvPr/>
        </p:nvSpPr>
        <p:spPr>
          <a:xfrm>
            <a:off x="5435925" y="6486304"/>
            <a:ext cx="2900085" cy="107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/>
              <a:t>duas convencionais, garantiu segurança e boa movimentação em curvas e rampas. O resgate foi feito por uma garra lateral automatizada, acionada por servo motor, e a carenagem sustentável trouxe leveza, resistência e compromisso ambiental.</a:t>
            </a: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9E71D913-899A-4C07-B615-F49A8E2A9F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4" t="6911" r="19111" b="3359"/>
          <a:stretch/>
        </p:blipFill>
        <p:spPr bwMode="auto">
          <a:xfrm>
            <a:off x="677851" y="12883067"/>
            <a:ext cx="758647" cy="807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71A5127-1A62-49D4-BAFC-811E11005095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3534" t="998" r="21364" b="16547"/>
          <a:stretch/>
        </p:blipFill>
        <p:spPr>
          <a:xfrm>
            <a:off x="2647673" y="12749414"/>
            <a:ext cx="823929" cy="924689"/>
          </a:xfrm>
          <a:prstGeom prst="rect">
            <a:avLst/>
          </a:prstGeom>
        </p:spPr>
      </p:pic>
      <p:sp>
        <p:nvSpPr>
          <p:cNvPr id="37" name="Google Shape;72;p13">
            <a:extLst>
              <a:ext uri="{FF2B5EF4-FFF2-40B4-BE49-F238E27FC236}">
                <a16:creationId xmlns:a16="http://schemas.microsoft.com/office/drawing/2014/main" id="{7586184E-5314-4BE4-9E2A-783D2B4C906F}"/>
              </a:ext>
            </a:extLst>
          </p:cNvPr>
          <p:cNvSpPr txBox="1"/>
          <p:nvPr/>
        </p:nvSpPr>
        <p:spPr>
          <a:xfrm>
            <a:off x="8656772" y="10531197"/>
            <a:ext cx="1074199" cy="15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150" rIns="0" bIns="0" anchor="t" anchorCtr="0">
            <a:spAutoFit/>
          </a:bodyPr>
          <a:lstStyle/>
          <a:p>
            <a:pPr marL="12700" lvl="0" algn="ctr"/>
            <a:r>
              <a:rPr lang="pt-BR" sz="600" dirty="0">
                <a:solidFill>
                  <a:schemeClr val="dk1"/>
                </a:solidFill>
              </a:rPr>
              <a:t>https://linktr.ee/sesiraidens</a:t>
            </a:r>
            <a:endParaRPr sz="400" dirty="0">
              <a:solidFill>
                <a:srgbClr val="17003D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08C6689-206D-4FB7-B523-881BF504FAD3}"/>
              </a:ext>
            </a:extLst>
          </p:cNvPr>
          <p:cNvSpPr/>
          <p:nvPr/>
        </p:nvSpPr>
        <p:spPr>
          <a:xfrm>
            <a:off x="677851" y="13690410"/>
            <a:ext cx="188246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700" dirty="0">
                <a:latin typeface="+mn-lt"/>
              </a:rPr>
              <a:t>Figuras 1 e 2. Modelagem do protótipo (Autoria Própria)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9B02EAE3-4B19-4DAC-8859-C38AA33DBEE8}"/>
              </a:ext>
            </a:extLst>
          </p:cNvPr>
          <p:cNvSpPr/>
          <p:nvPr/>
        </p:nvSpPr>
        <p:spPr>
          <a:xfrm>
            <a:off x="2573500" y="13690410"/>
            <a:ext cx="188246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700" dirty="0">
                <a:latin typeface="+mn-lt"/>
              </a:rPr>
              <a:t>Figuras 3 e 4. Protótipo físico em funcionamento (Autoria Própria)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5785C2CE-AF22-4441-AEB7-18505BFB1E89}"/>
              </a:ext>
            </a:extLst>
          </p:cNvPr>
          <p:cNvSpPr/>
          <p:nvPr/>
        </p:nvSpPr>
        <p:spPr>
          <a:xfrm>
            <a:off x="8366206" y="7563452"/>
            <a:ext cx="188246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700" dirty="0">
                <a:latin typeface="+mn-lt"/>
              </a:rPr>
              <a:t>Figura 5. Protótipo físico em funcionamento (Autoria Própria)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820</Words>
  <Application>Microsoft Office PowerPoint</Application>
  <PresentationFormat>Personalizar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Arial Black</vt:lpstr>
      <vt:lpstr>Trebuchet MS</vt:lpstr>
      <vt:lpstr>Tahoma</vt:lpstr>
      <vt:lpstr>Simple Light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Espaço Maker</dc:creator>
  <cp:lastModifiedBy>aluno</cp:lastModifiedBy>
  <cp:revision>6</cp:revision>
  <dcterms:modified xsi:type="dcterms:W3CDTF">2025-09-30T19:41:40Z</dcterms:modified>
</cp:coreProperties>
</file>